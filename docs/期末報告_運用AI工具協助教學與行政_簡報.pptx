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64748B"/>
                </a:solidFill>
                <a:latin typeface="Microsoft JhengHei"/>
              </a:defRPr>
            </a:pPr>
            <a:r>
              <a:t>國立高雄師範大學 軟體工程與管理學系 ｜ 國小科技專長加註30學分班</a:t>
            </a:r>
          </a:p>
          <a:p>
            <a:pPr>
              <a:spcAft>
                <a:spcPts val="800"/>
              </a:spcAft>
              <a:defRPr sz="3600" b="1">
                <a:solidFill>
                  <a:srgbClr val="1A2B4C"/>
                </a:solidFill>
                <a:latin typeface="Microsoft JhengHei"/>
              </a:defRPr>
            </a:pPr>
            <a:r>
              <a:t>運用 AI 工具協助教學與行政</a:t>
            </a:r>
          </a:p>
          <a:p>
            <a:pPr>
              <a:spcAft>
                <a:spcPts val="2800"/>
              </a:spcAft>
              <a:defRPr sz="2200">
                <a:solidFill>
                  <a:srgbClr val="2563EB"/>
                </a:solidFill>
                <a:latin typeface="Microsoft JhengHei"/>
              </a:defRPr>
            </a:pPr>
            <a:r>
              <a:t>「拼字小特工」互動測驗與雲端導師管理系統期末規劃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指導教授：郭家旭 教授  ｜  課程名稱：計算機概論</a:t>
            </a:r>
          </a:p>
          <a:p>
            <a:pPr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報告學生：林宗義  ｜  學號：C1585008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運用 AI 工具協助教學與行政 期末報告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A2B4C"/>
                </a:solidFill>
                <a:latin typeface="Microsoft JhengHei"/>
              </a:defRPr>
            </a:pPr>
            <a:r>
              <a:t>一、為什麼想做？教學與行政三大現場痛點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痛點 01</a:t>
            </a:r>
          </a:p>
          <a:p>
            <a:pPr>
              <a:spcAft>
                <a:spcPts val="1400"/>
              </a:spcAft>
              <a:defRPr sz="1600" b="1">
                <a:solidFill>
                  <a:srgbClr val="1A2B4C"/>
                </a:solidFill>
                <a:latin typeface="Microsoft JhengHei"/>
              </a:defRPr>
            </a:pPr>
            <a:r>
              <a:t>教學痛點：缺乏即時回饋與記憶機制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國中英文 2000 單字量龐大，傳統紙本死記枯燥。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缺乏真人發音輔助與不同難度的語境例句引導。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無法針對個人易錯單字實施 SRS 間隔重複複習。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Microsoft JhengHei"/>
              </a:defRPr>
            </a:pPr>
            <a:r>
              <a:t>痛點 02</a:t>
            </a:r>
          </a:p>
          <a:p>
            <a:pPr>
              <a:spcAft>
                <a:spcPts val="1400"/>
              </a:spcAft>
              <a:defRPr sz="1600" b="1">
                <a:solidFill>
                  <a:srgbClr val="1A2B4C"/>
                </a:solidFill>
                <a:latin typeface="Microsoft JhengHei"/>
              </a:defRPr>
            </a:pPr>
            <a:r>
              <a:t>行政痛點：重複性繁瑣工作耗費心力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每日人工批改全班單字小考，耗時且回饋延遲。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手動登記登錄分數、追蹤未測驗名單效率極低。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整理個別學生學習歷程與親師報表費時耗力。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6A34A"/>
                </a:solidFill>
                <a:latin typeface="Microsoft JhengHei"/>
              </a:defRPr>
            </a:pPr>
            <a:r>
              <a:t>痛點 03</a:t>
            </a:r>
          </a:p>
          <a:p>
            <a:pPr>
              <a:spcAft>
                <a:spcPts val="1400"/>
              </a:spcAft>
              <a:defRPr sz="1600" b="1">
                <a:solidFill>
                  <a:srgbClr val="1A2B4C"/>
                </a:solidFill>
                <a:latin typeface="Microsoft JhengHei"/>
              </a:defRPr>
            </a:pPr>
            <a:r>
              <a:t>學習管理痛點：跨裝置與作息管控失衡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學生缺乏時間自主管控，易於深夜過度用眼。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公用設備或跨裝置登入，易發生快取紀錄遺失。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• 家長與導師難以即時同步掌握每日真實學習狀態。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運用 AI 工具協助教學與行政 期末報告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A2B4C"/>
                </a:solidFill>
                <a:latin typeface="Microsoft JhengHei"/>
              </a:defRPr>
            </a:pPr>
            <a:r>
              <a:t>二、想做什麼？教學與行政雙軸整合架構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【教學案例】拼字小特工（Spelling Agent）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核心目標：國中 2000 單字分級闖關與每日互動學習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闖關體系：Level 1～5 分級關卡，循序漸進解鎖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四大多元題型：聽音選擇、陷阱填空、字母重組、完整拼字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深度語境：三層次例句（基礎 / 一般 / 進階）與即時發音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精通機制：間隔重複（SRS）連續 3 次答對達精通，週末錯題補救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健康管理：每日 10 分鐘護眼倒數 + 07:30~22:00 開放時段管控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97706"/>
                </a:solidFill>
                <a:latin typeface="Microsoft JhengHei"/>
              </a:defRPr>
            </a:pPr>
            <a:r>
              <a:t>【行政案例】學生歷程與導師後台系統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核心架構：Google Apps Script (GAS) Web App + 試算表雲端庫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自動彙整：測驗完成秒級回傳，全班每日成績自動計算統計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導師儀表板：視覺化呈現班級達標率、個人學習趨勢與易錯題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預警機制：自動篩選「久未練習名單」，即時關懷落後學生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親師共育：提供家長查詢獨立視圖，學習足跡透明化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✔ 雲端保障：SHA-256 密碼防護、GZip 壓縮儲存與定時自動備份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運用 AI 工具協助教學與行政 期末報告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A2B4C"/>
                </a:solidFill>
                <a:latin typeface="Microsoft JhengHei"/>
              </a:defRPr>
            </a:pPr>
            <a:r>
              <a:t>三、產出流程：AI 協同開發四步驟與 Prompt 設計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Step 1 題庫架構</a:t>
            </a:r>
          </a:p>
          <a:p>
            <a:pPr>
              <a:defRPr sz="1100">
                <a:solidFill>
                  <a:srgbClr val="1E293B"/>
                </a:solidFill>
                <a:latin typeface="Microsoft JhengHei"/>
              </a:defRPr>
            </a:pPr>
            <a:r>
              <a:t>AI 分級 2000 單字，產出音標、陷阱字母與三層次例句 JSON。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7373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Step 2 遊戲實作</a:t>
            </a:r>
          </a:p>
          <a:p>
            <a:pPr>
              <a:defRPr sz="1100">
                <a:solidFill>
                  <a:srgbClr val="1E293B"/>
                </a:solidFill>
                <a:latin typeface="Microsoft JhengHei"/>
              </a:defRPr>
            </a:pPr>
            <a:r>
              <a:t>協作開發 HTML/JS 前端，實作四大拼字題型、語音與 SRS 邏輯。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Step 3 後端串接</a:t>
            </a:r>
          </a:p>
          <a:p>
            <a:pPr>
              <a:defRPr sz="1100">
                <a:solidFill>
                  <a:srgbClr val="1E293B"/>
                </a:solidFill>
                <a:latin typeface="Microsoft JhengHei"/>
              </a:defRPr>
            </a:pPr>
            <a:r>
              <a:t>撰寫 GAS 後端 API、試算表資料結構與 Chart.js 導師儀表板。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373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Step 4 部署實測</a:t>
            </a:r>
          </a:p>
          <a:p>
            <a:pPr>
              <a:defRPr sz="1100">
                <a:solidFill>
                  <a:srgbClr val="1E293B"/>
                </a:solidFill>
                <a:latin typeface="Microsoft JhengHei"/>
              </a:defRPr>
            </a:pPr>
            <a:r>
              <a:t>部署至 GitHub Pages 與 GAS Web App，完成全班模擬測驗驗證。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106984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A2B4C"/>
                </a:solidFill>
                <a:latin typeface="Microsoft JhengHei"/>
              </a:defRPr>
            </a:pPr>
            <a:r>
              <a:t>關鍵 Prompt 設計範例（精確結構要求）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Microsoft JhengHei"/>
              </a:defRPr>
            </a:pPr>
            <a:r>
              <a:t>【前端教學 Prompt】：『請設計國中英文 2000 單字互動學習網頁「拼字小特工」，讀取 words2000.json 與 meanings.json，分為 Level 1~5 闖關與 4 種練習模式，具備語音發音、三層難度例句、連續答對 3 次精通的 SRS 進度條，並串接 GAS 雲端同步與每日 10 分鐘護眼管控。』</a:t>
            </a:r>
          </a:p>
          <a:p>
            <a:pPr>
              <a:defRPr sz="1150">
                <a:solidFill>
                  <a:srgbClr val="1E293B"/>
                </a:solidFill>
                <a:latin typeface="Microsoft JhengHei"/>
              </a:defRPr>
            </a:pPr>
            <a:r>
              <a:t>【後端行政 Prompt】：『請撰寫 Google Apps Script 連結 Google 試算表，接收前端單字遊戲回傳的學生作答 JSON 紀錄，自動更新「全班學習總覽」與「每日任務紀錄」；並建立導師管理後台與家長查詢儀表板，提供成績彙整、久未練習預警、個人學習曲線圖表及 CSV 匯出功能。』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運用 AI 工具協助教學與行政 期末報告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A2B4C"/>
                </a:solidFill>
                <a:latin typeface="Microsoft JhengHei"/>
              </a:defRPr>
            </a:pPr>
            <a:r>
              <a:t>四、預期困難與因應策略：五大技術挑戰對策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  <a:latin typeface="Microsoft JhengHei"/>
              </a:defRPr>
            </a:pPr>
            <a:r>
              <a:t>1. 高併發衝突 &amp; GAS 逾時  </a:t>
            </a:r>
            <a:r>
              <a:rPr sz="1150" b="0">
                <a:solidFill>
                  <a:srgbClr val="64748B"/>
                </a:solidFill>
                <a:latin typeface="Microsoft JhengHei"/>
              </a:rPr>
              <a:t>（風險：全班同時上傳或導師遍歷大量學生表） ➔ </a:t>
            </a:r>
            <a:r>
              <a:rPr sz="1200" b="1">
                <a:solidFill>
                  <a:srgbClr val="2563EB"/>
                </a:solidFill>
                <a:latin typeface="Microsoft JhengHei"/>
              </a:rPr>
              <a:t>【因應解法】：導入 LockService 防止寫入衝突；建立「全班學習總覽」快速索引與快取，0.5 秒極速讀取。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  <a:latin typeface="Microsoft JhengHei"/>
              </a:defRPr>
            </a:pPr>
            <a:r>
              <a:t>2. 跨網域與資料對接 (CORS)  </a:t>
            </a:r>
            <a:r>
              <a:rPr sz="1150" b="0">
                <a:solidFill>
                  <a:srgbClr val="64748B"/>
                </a:solidFill>
                <a:latin typeface="Microsoft JhengHei"/>
              </a:rPr>
              <a:t>（風險：GitHub Pages 呼叫 GAS 易阻擋或格式錯誤） ➔ </a:t>
            </a:r>
            <a:r>
              <a:rPr sz="1200" b="1">
                <a:solidFill>
                  <a:srgbClr val="2563EB"/>
                </a:solidFill>
                <a:latin typeface="Microsoft JhengHei"/>
              </a:rPr>
              <a:t>【因應解法】：在 Prompt 中嚴格規範前後端 JSON 規格，以測試帳號端到端實測，搭配試算表「錯誤日誌」除錯。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  <a:latin typeface="Microsoft JhengHei"/>
              </a:defRPr>
            </a:pPr>
            <a:r>
              <a:t>3. AI 題庫品質與難度控制  </a:t>
            </a:r>
            <a:r>
              <a:rPr sz="1150" b="0">
                <a:solidFill>
                  <a:srgbClr val="64748B"/>
                </a:solidFill>
                <a:latin typeface="Microsoft JhengHei"/>
              </a:rPr>
              <a:t>（風險：例句難度不均或單字欄位缺漏） ➔ </a:t>
            </a:r>
            <a:r>
              <a:rPr sz="1200" b="1">
                <a:solidFill>
                  <a:srgbClr val="2563EB"/>
                </a:solidFill>
                <a:latin typeface="Microsoft JhengHei"/>
              </a:rPr>
              <a:t>【因應解法】：編寫自動化校驗腳本檢查 JSON 欄位完整性，輔以教師人工抽檢與微調，確保符合國中教材。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  <a:latin typeface="Microsoft JhengHei"/>
              </a:defRPr>
            </a:pPr>
            <a:r>
              <a:t>4. 公用設備快取殘留進度覆蓋  </a:t>
            </a:r>
            <a:r>
              <a:rPr sz="1150" b="0">
                <a:solidFill>
                  <a:srgbClr val="64748B"/>
                </a:solidFill>
                <a:latin typeface="Microsoft JhengHei"/>
              </a:rPr>
              <a:t>（風險：學校電腦多人共用導致紀錄混淆） ➔ </a:t>
            </a:r>
            <a:r>
              <a:rPr sz="1200" b="1">
                <a:solidFill>
                  <a:srgbClr val="2563EB"/>
                </a:solidFill>
                <a:latin typeface="Microsoft JhengHei"/>
              </a:rPr>
              <a:t>【因應解法】：網頁開啟與切換帳號時自動清除本地舊快取，強制身分登入後一律從雲端試算表拉取最新進度。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  <a:latin typeface="Microsoft JhengHei"/>
              </a:defRPr>
            </a:pPr>
            <a:r>
              <a:t>5. 大資料量儲存與視力保護  </a:t>
            </a:r>
            <a:r>
              <a:rPr sz="1150" b="0">
                <a:solidFill>
                  <a:srgbClr val="64748B"/>
                </a:solidFill>
                <a:latin typeface="Microsoft JhengHei"/>
              </a:rPr>
              <a:t>（風險：累積作答體積超限、深夜超時傷眼） ➔ </a:t>
            </a:r>
            <a:r>
              <a:rPr sz="1200" b="1">
                <a:solidFill>
                  <a:srgbClr val="2563EB"/>
                </a:solidFill>
                <a:latin typeface="Microsoft JhengHei"/>
              </a:rPr>
              <a:t>【因應解法】：資料庫端採 GZip 壓縮並定期自動備份；前端鎖定 07:30~22:00 開放時段與 10 分鐘強制護眼倒數。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運用 AI 工具協助教學與行政 期末報告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A2B4C"/>
                </a:solidFill>
                <a:latin typeface="Microsoft JhengHei"/>
              </a:defRPr>
            </a:pPr>
            <a:r>
              <a:t>五、預期效益與總結：三贏的智慧教學模式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效益 01</a:t>
            </a:r>
          </a:p>
          <a:p>
            <a:pPr>
              <a:spcAft>
                <a:spcPts val="1400"/>
              </a:spcAft>
              <a:defRPr sz="1600" b="1">
                <a:solidFill>
                  <a:srgbClr val="1A2B4C"/>
                </a:solidFill>
                <a:latin typeface="Microsoft JhengHei"/>
              </a:defRPr>
            </a:pPr>
            <a:r>
              <a:t>學生端：高效自學與自信建立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遊戲化關卡與多感官語音，提升學習動機。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SRS 個別化補強易錯字，單字記憶更持久。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每日 10 分鐘微學習，養成規律自學習慣。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Microsoft JhengHei"/>
              </a:defRPr>
            </a:pPr>
            <a:r>
              <a:t>效益 02</a:t>
            </a:r>
          </a:p>
          <a:p>
            <a:pPr>
              <a:spcAft>
                <a:spcPts val="1400"/>
              </a:spcAft>
              <a:defRPr sz="1600" b="1">
                <a:solidFill>
                  <a:srgbClr val="1A2B4C"/>
                </a:solidFill>
                <a:latin typeface="Microsoft JhengHei"/>
              </a:defRPr>
            </a:pPr>
            <a:r>
              <a:t>教師端：行政大幅減負，精準輔導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小考全自動批改登記，行政負擔趨近於零。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一鍵產出班級報表，即時掌握學習弱點。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精準找出久未練習學生，即時介入輔導。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6A34A"/>
                </a:solidFill>
                <a:latin typeface="Microsoft JhengHei"/>
              </a:defRPr>
            </a:pPr>
            <a:r>
              <a:t>效益 03</a:t>
            </a:r>
          </a:p>
          <a:p>
            <a:pPr>
              <a:spcAft>
                <a:spcPts val="1400"/>
              </a:spcAft>
              <a:defRPr sz="1600" b="1">
                <a:solidFill>
                  <a:srgbClr val="1A2B4C"/>
                </a:solidFill>
                <a:latin typeface="Microsoft JhengHei"/>
              </a:defRPr>
            </a:pPr>
            <a:r>
              <a:t>家長與系統端：透明互信，零伺服器成本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家長專屬查詢視角，透明了解子女學習歷程。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免付費雲端架構（GitHub + GAS + Google 試算表）。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Microsoft JhengHei"/>
              </a:defRPr>
            </a:pPr>
            <a:r>
              <a:t>★ 資安驗證、資料壓縮與自動備份，安全可靠。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